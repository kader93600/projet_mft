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FE2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4168" y="4206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
</a:t>
            </a:r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PRÉSENTATION  ·  AUDIT &amp; VALIDATION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274320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Capacité de transport
</a:t>
            </a:r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marchandises </a:t>
            </a:r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(≤ 3,5 t)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45262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— organisme de formation certifié Qualiopi, spécialisé dans les métiers du transport routier.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5303520"/>
            <a:ext cx="1594714" cy="310896"/>
          </a:xfrm>
          <a:prstGeom prst="roundRect">
            <a:avLst>
              <a:gd name="adj" fmla="val 50000"/>
            </a:avLst>
          </a:prstGeom>
          <a:solidFill>
            <a:srgbClr val="161B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303520"/>
            <a:ext cx="15947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QUALIOPI CW202525-4287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26818" y="5303520"/>
            <a:ext cx="1331366" cy="310896"/>
          </a:xfrm>
          <a:prstGeom prst="roundRect">
            <a:avLst>
              <a:gd name="adj" fmla="val 50000"/>
            </a:avLst>
          </a:prstGeom>
          <a:solidFill>
            <a:srgbClr val="161B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26818" y="5303520"/>
            <a:ext cx="13313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11 77 09 47177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04488" y="5303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61B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4488" y="5303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DREETS ÎLE-DE-FRANCE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13832" y="5303520"/>
            <a:ext cx="1660550" cy="310896"/>
          </a:xfrm>
          <a:prstGeom prst="roundRect">
            <a:avLst>
              <a:gd name="adj" fmla="val 50000"/>
            </a:avLst>
          </a:prstGeom>
          <a:solidFill>
            <a:srgbClr val="161B3D"/>
          </a:solidFill>
          <a:ln w="9525">
            <a:solidFill>
              <a:srgbClr val="242C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13832" y="5303520"/>
            <a:ext cx="1660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SIRET 908 851 280 00028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destiné à l'administration  ·  Édition mai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présente ce dossier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l'école et de la formation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624328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624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d'inscription d'un stagiaire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465576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4655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L'expérience et le suivi du stagiaire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306824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3068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des formateurs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148072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5148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de l'administration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et exigences Qualiopi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624328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624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technique, expliquée simplement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3465576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34655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et analytics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4306824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43068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1/20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formation français spécialisé dans les métiers du transport routier de marchandises et de voyageurs. La plateforme est l'école en ligne de l'organisme : elle digitalise tout le parcours, de l'inscription à la certification, tout en industrialisant la traçabilité administrative attendue d'un organisme certifié Qualiopi.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vision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Maximiser la réussite des stagiaires aux examens officiels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une expérience d'apprentissage moderne et engageante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une conformité administrative complète et prouvable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52360" y="1600200"/>
            <a:ext cx="4053535" cy="4526280"/>
          </a:xfrm>
          <a:prstGeom prst="rect">
            <a:avLst/>
          </a:prstGeom>
          <a:solidFill>
            <a:srgbClr val="0E1240"/>
          </a:solidFill>
          <a:ln/>
          <a:effectLst>
            <a:outerShdw sx="100000" sy="100000" kx="0" ky="0" algn="bl" rotWithShape="0" blurRad="152400" dist="50800" dir="8100000">
              <a:srgbClr val="0E124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52360" y="1600200"/>
            <a:ext cx="4053535" cy="91440"/>
          </a:xfrm>
          <a:prstGeom prst="rect">
            <a:avLst/>
          </a:prstGeom>
          <a:solidFill>
            <a:srgbClr val="9FE22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87452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D'IDENTITÉ DE L'ORGANISME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2286000"/>
            <a:ext cx="3413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 SOCIALE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246888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(SAS)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2807208"/>
            <a:ext cx="3413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0" y="2990088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908 851 280 00028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3328416"/>
            <a:ext cx="3413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APE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3511296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8559B — Autres enseignements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3849624"/>
            <a:ext cx="3413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DÉCLARATION (NDA)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0" y="403250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77 09 47177 · DREETS Île-de-France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370832"/>
            <a:ext cx="3413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0" y="4553712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Qualiopi CW202525-4287 (BCI France)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4892040"/>
            <a:ext cx="3413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507492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av. des Sablons Bouillants, 77100 Meaux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5413248"/>
            <a:ext cx="3413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5596128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européenne (datacenters Paris / Francfort)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2/20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: la Capacité de transport (≤ 3,5 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de capacité professionnelle permettant d'exercer l'activité de transporteur routier léger de marchandises (véhicules de 3,5 tonnes et moins). La plateforme prépare le stagiaire à l'examen, avec un parcours en six modules couvrant l'ensemble du programme réglementaire.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342381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606040"/>
            <a:ext cx="82296" cy="1234440"/>
          </a:xfrm>
          <a:prstGeom prst="rect">
            <a:avLst/>
          </a:prstGeom>
          <a:solidFill>
            <a:srgbClr val="9FE220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843784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967228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843784"/>
            <a:ext cx="2417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54480" y="306324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civil &amp; commercial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3938" y="2606040"/>
            <a:ext cx="342381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3938" y="2606040"/>
            <a:ext cx="82296" cy="1234440"/>
          </a:xfrm>
          <a:prstGeom prst="rect">
            <a:avLst/>
          </a:prstGeom>
          <a:solidFill>
            <a:srgbClr val="9FE220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9970" y="2843784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414" y="2967228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2618" y="2843784"/>
            <a:ext cx="2417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252618" y="306324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commerciale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82077" y="2606040"/>
            <a:ext cx="342381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2077" y="2606040"/>
            <a:ext cx="82296" cy="1234440"/>
          </a:xfrm>
          <a:prstGeom prst="rect">
            <a:avLst/>
          </a:prstGeom>
          <a:solidFill>
            <a:srgbClr val="9FE220"/>
          </a:solidFill>
          <a:ln/>
        </p:spPr>
      </p:sp>
      <p:sp>
        <p:nvSpPr>
          <p:cNvPr id="19" name="Shape 15"/>
          <p:cNvSpPr/>
          <p:nvPr/>
        </p:nvSpPr>
        <p:spPr>
          <a:xfrm>
            <a:off x="8338109" y="2843784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553" y="2967228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50757" y="2843784"/>
            <a:ext cx="2417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950757" y="306324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transport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114800"/>
            <a:ext cx="342381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" y="4114800"/>
            <a:ext cx="82296" cy="1234440"/>
          </a:xfrm>
          <a:prstGeom prst="rect">
            <a:avLst/>
          </a:prstGeom>
          <a:solidFill>
            <a:srgbClr val="9FE220"/>
          </a:solidFill>
          <a:ln/>
        </p:spPr>
      </p:sp>
      <p:sp>
        <p:nvSpPr>
          <p:cNvPr id="25" name="Shape 20"/>
          <p:cNvSpPr/>
          <p:nvPr/>
        </p:nvSpPr>
        <p:spPr>
          <a:xfrm>
            <a:off x="941832" y="4352544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4475988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4352544"/>
            <a:ext cx="2417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554480" y="45720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financière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83938" y="4114800"/>
            <a:ext cx="342381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83938" y="4114800"/>
            <a:ext cx="82296" cy="1234440"/>
          </a:xfrm>
          <a:prstGeom prst="rect">
            <a:avLst/>
          </a:prstGeom>
          <a:solidFill>
            <a:srgbClr val="9FE220"/>
          </a:solidFill>
          <a:ln/>
        </p:spPr>
      </p:sp>
      <p:sp>
        <p:nvSpPr>
          <p:cNvPr id="31" name="Shape 25"/>
          <p:cNvSpPr/>
          <p:nvPr/>
        </p:nvSpPr>
        <p:spPr>
          <a:xfrm>
            <a:off x="4639970" y="4352544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3414" y="4475988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52618" y="4352544"/>
            <a:ext cx="2417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252618" y="45720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sociale &amp; salariés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082077" y="4114800"/>
            <a:ext cx="342381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82077" y="4114800"/>
            <a:ext cx="82296" cy="1234440"/>
          </a:xfrm>
          <a:prstGeom prst="rect">
            <a:avLst/>
          </a:prstGeom>
          <a:solidFill>
            <a:srgbClr val="9FE220"/>
          </a:solidFill>
          <a:ln/>
        </p:spPr>
      </p:sp>
      <p:sp>
        <p:nvSpPr>
          <p:cNvPr id="37" name="Shape 30"/>
          <p:cNvSpPr/>
          <p:nvPr/>
        </p:nvSpPr>
        <p:spPr>
          <a:xfrm>
            <a:off x="8338109" y="4352544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553" y="4475988"/>
            <a:ext cx="210312" cy="2103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950757" y="4352544"/>
            <a:ext cx="2417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8950757" y="45720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réglementation technique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685800" y="58064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Modalité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souple : chaque module et quiz peut être travaillé librement (le stagiaire prépare l'examen officiel externe). Contenu dense : 6 modules, des centaines de leçons et de questions d'entraînement.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3/20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d'inscription d'un stagiaire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49928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1947672"/>
            <a:ext cx="512064" cy="512064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085929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70684" y="19293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23544" y="256032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inscription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23544" y="2926080"/>
            <a:ext cx="20420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via le formulaire ou prise de contact ; suivi dans le CRM.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148508" y="23774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59404" y="1691640"/>
            <a:ext cx="249928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97148" y="1947672"/>
            <a:ext cx="512064" cy="512064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5" y="2085929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44288" y="19293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697148" y="256032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du dossier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697148" y="2926080"/>
            <a:ext cx="20420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L'administration crée le compte et le dossier (état civil, financement).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922112" y="23774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33008" y="1691640"/>
            <a:ext cx="249928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70752" y="1947672"/>
            <a:ext cx="512064" cy="512064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009" y="2085929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817891" y="19293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470752" y="256032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formation &amp; pack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70752" y="2926080"/>
            <a:ext cx="20420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≤ 3,5 t + niveau d'accompagnement (Initial, Medium, Premium).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695715" y="23774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06611" y="1691640"/>
            <a:ext cx="249928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44355" y="1947672"/>
            <a:ext cx="512064" cy="512064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613" y="2085929"/>
            <a:ext cx="235549" cy="23554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591495" y="19293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244355" y="256032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activé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244355" y="2926080"/>
            <a:ext cx="20420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par e-mail ; le stagiaire définit son mot de passe.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8580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niveaux d'accompagnement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685800" y="4434840"/>
            <a:ext cx="342381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85800" y="4434840"/>
            <a:ext cx="3423818" cy="457200"/>
          </a:xfrm>
          <a:prstGeom prst="rect">
            <a:avLst/>
          </a:prstGeom>
          <a:solidFill>
            <a:srgbClr val="0E1240"/>
          </a:solidFill>
          <a:ln/>
        </p:spPr>
      </p:sp>
      <p:sp>
        <p:nvSpPr>
          <p:cNvPr id="34" name="Text 28"/>
          <p:cNvSpPr/>
          <p:nvPr/>
        </p:nvSpPr>
        <p:spPr>
          <a:xfrm>
            <a:off x="685800" y="443484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905256" y="5038344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autonome : cours, entraînements, quiz et tuteur IA en accès complet.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383938" y="4434840"/>
            <a:ext cx="342381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383938" y="4434840"/>
            <a:ext cx="3423818" cy="457200"/>
          </a:xfrm>
          <a:prstGeom prst="rect">
            <a:avLst/>
          </a:prstGeom>
          <a:solidFill>
            <a:srgbClr val="0E1240"/>
          </a:solidFill>
          <a:ln/>
        </p:spPr>
      </p:sp>
      <p:sp>
        <p:nvSpPr>
          <p:cNvPr id="38" name="Text 32"/>
          <p:cNvSpPr/>
          <p:nvPr/>
        </p:nvSpPr>
        <p:spPr>
          <a:xfrm>
            <a:off x="4383938" y="443484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4603394" y="5038344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l'Initial, plus un formateur attitré pour le suivi et la correction.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8082077" y="4434840"/>
            <a:ext cx="342381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8082077" y="4434840"/>
            <a:ext cx="3423818" cy="457200"/>
          </a:xfrm>
          <a:prstGeom prst="rect">
            <a:avLst/>
          </a:prstGeom>
          <a:solidFill>
            <a:srgbClr val="0E1240"/>
          </a:solidFill>
          <a:ln/>
        </p:spPr>
      </p:sp>
      <p:sp>
        <p:nvSpPr>
          <p:cNvPr id="42" name="Text 36"/>
          <p:cNvSpPr/>
          <p:nvPr/>
        </p:nvSpPr>
        <p:spPr>
          <a:xfrm>
            <a:off x="8082077" y="443484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8301533" y="5038344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Medium, plus des sessions en direct (présentiel / visioconférence).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4/20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connexion : identité, signatures, documents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 première connexion, le stagiaire suit un parcours d'entrée guidé et sécurisé avant d'accéder aux contenus.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27228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3055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sécurisée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personnel défini via le lien d'invitation.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3113532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l'identité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informations du dossier.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3831336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954780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8130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électronique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manuscrite des documents obligatoires, horodatée.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85800" y="4672584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4796028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6542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Émargement numérique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signée à chaque session, valeur de preuve.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040880" y="2011680"/>
            <a:ext cx="4465015" cy="3840480"/>
          </a:xfrm>
          <a:prstGeom prst="rect">
            <a:avLst/>
          </a:prstGeom>
          <a:solidFill>
            <a:srgbClr val="F1EEE7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315200" y="2240280"/>
            <a:ext cx="457200" cy="457200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644" y="2363724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09560" y="2240280"/>
            <a:ext cx="345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obligatoires signés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7360920" y="2926080"/>
            <a:ext cx="38249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intérieur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générales (CGU / CGV)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/ contrat de formation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Livret d'accueil du stagiaire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7360920" y="4892040"/>
            <a:ext cx="382493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360920" y="5029200"/>
            <a:ext cx="3824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&amp; sécurité. 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signature est horodatée, scellée par une empreinte SHA-256 (avec adresse IP et appareil) et conservée de façon sécurisée.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5/20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E2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66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
</a:t>
            </a:r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21945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6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6" name="Text 3"/>
          <p:cNvSpPr/>
          <p:nvPr/>
        </p:nvSpPr>
        <p:spPr>
          <a:xfrm>
            <a:off x="68580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4160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L'expérience et le suivi du stagiaire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5800" y="5029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bord, modules, évaluations, progression et documents : tout ce que vit le stagiaire, et tout ce qui est tracé.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6/20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STAGIAIRE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 qui guide le stagiaire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766560" cy="46091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52400" dist="50800" dir="8100000">
              <a:srgbClr val="0E12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6766560" cy="274320"/>
          </a:xfrm>
          <a:prstGeom prst="rect">
            <a:avLst/>
          </a:prstGeom>
          <a:solidFill>
            <a:srgbClr val="0E1240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1783080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783080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783080"/>
            <a:ext cx="91440" cy="91440"/>
          </a:xfrm>
          <a:prstGeom prst="ellipse">
            <a:avLst/>
          </a:prstGeom>
          <a:solidFill>
            <a:srgbClr val="9FE220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737360"/>
            <a:ext cx="5852160" cy="182880"/>
          </a:xfrm>
          <a:prstGeom prst="roundRect">
            <a:avLst>
              <a:gd name="adj" fmla="val 40000"/>
            </a:avLst>
          </a:prstGeom>
          <a:solidFill>
            <a:srgbClr val="161B3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7282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app.maformationtransport.fr  ·  Tableau de bord</a:t>
            </a:r>
            <a:endParaRPr lang="en-US" sz="750" dirty="0"/>
          </a:p>
        </p:txBody>
      </p:sp>
      <p:pic>
        <p:nvPicPr>
          <p:cNvPr id="11" name="Image 0" descr="livraison/screen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6766560" cy="43348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0" y="1783080"/>
            <a:ext cx="3733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connexion, le stagiaire sait quoi faire.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0" y="2514600"/>
            <a:ext cx="373349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en cours et progression globale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action recommandée (module à reprendre)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Niveau, points d'expérience et série de connexion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 aux modules, quiz et examens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notifications et messagerie</a:t>
            </a:r>
            <a:endParaRPr lang="en-US" sz="11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et résultats à portée de clic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7/20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STAGIAIRE · PÉDAGOGIE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modules pédagogiques structurés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contenu dense, clair et conforme au programme.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détaillés : texte riche, illustrations, tableaux et annexes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d'introduction et durée estimée par module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Leçons et quiz regroupés par module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chaque leçon et suivi de lecture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Déverrouillage progressif et logique du parcours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691640"/>
            <a:ext cx="5394960" cy="373046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52400" dist="50800" dir="8100000">
              <a:srgbClr val="0E12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0" y="1691640"/>
            <a:ext cx="5394960" cy="274320"/>
          </a:xfrm>
          <a:prstGeom prst="rect">
            <a:avLst/>
          </a:prstGeom>
          <a:solidFill>
            <a:srgbClr val="0E1240"/>
          </a:solidFill>
          <a:ln/>
        </p:spPr>
      </p:sp>
      <p:sp>
        <p:nvSpPr>
          <p:cNvPr id="8" name="Shape 6"/>
          <p:cNvSpPr/>
          <p:nvPr/>
        </p:nvSpPr>
        <p:spPr>
          <a:xfrm>
            <a:off x="6254496" y="1783080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783080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6547104" y="1783080"/>
            <a:ext cx="91440" cy="91440"/>
          </a:xfrm>
          <a:prstGeom prst="ellipse">
            <a:avLst/>
          </a:prstGeom>
          <a:solidFill>
            <a:srgbClr val="9FE220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1737360"/>
            <a:ext cx="4480560" cy="182880"/>
          </a:xfrm>
          <a:prstGeom prst="roundRect">
            <a:avLst>
              <a:gd name="adj" fmla="val 40000"/>
            </a:avLst>
          </a:prstGeom>
          <a:solidFill>
            <a:srgbClr val="161B3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7282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Module D — Activité financière</a:t>
            </a:r>
            <a:endParaRPr lang="en-US" sz="750" dirty="0"/>
          </a:p>
        </p:txBody>
      </p:sp>
      <p:pic>
        <p:nvPicPr>
          <p:cNvPr id="13" name="Image 0" descr="livraison/screenshots/mo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965960"/>
            <a:ext cx="5394960" cy="345614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8/20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STAGIAIRE · ÉVALUATION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 : du QCM à l'épreuve rédigée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669280" cy="3906203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52400" dist="50800" dir="8100000">
              <a:srgbClr val="0E12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5669280" cy="274320"/>
          </a:xfrm>
          <a:prstGeom prst="rect">
            <a:avLst/>
          </a:prstGeom>
          <a:solidFill>
            <a:srgbClr val="0E1240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1783080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783080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783080"/>
            <a:ext cx="91440" cy="91440"/>
          </a:xfrm>
          <a:prstGeom prst="ellipse">
            <a:avLst/>
          </a:prstGeom>
          <a:solidFill>
            <a:srgbClr val="9FE220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737360"/>
            <a:ext cx="4754880" cy="182880"/>
          </a:xfrm>
          <a:prstGeom prst="roundRect">
            <a:avLst>
              <a:gd name="adj" fmla="val 40000"/>
            </a:avLst>
          </a:prstGeom>
          <a:solidFill>
            <a:srgbClr val="161B3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7282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Quiz d'entraînement</a:t>
            </a:r>
            <a:endParaRPr lang="en-US" sz="750" dirty="0"/>
          </a:p>
        </p:txBody>
      </p:sp>
      <p:pic>
        <p:nvPicPr>
          <p:cNvPr id="11" name="Image 0" descr="livraison/screenshots/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5669280" cy="363188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675120" y="1828800"/>
            <a:ext cx="438912" cy="43891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626" y="1947306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78624" y="1792224"/>
            <a:ext cx="4227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auto-corrigés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278624" y="2066544"/>
            <a:ext cx="4227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et explications immédiates, seuil de réussite paramétrable.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675120" y="2761488"/>
            <a:ext cx="438912" cy="43891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626" y="2879994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78624" y="2724912"/>
            <a:ext cx="4227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rédigées (QR)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278624" y="2999232"/>
            <a:ext cx="4227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libres corrigées par le formateur, au plus près de l'examen.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675120" y="3694176"/>
            <a:ext cx="438912" cy="43891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626" y="3812682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78624" y="3657600"/>
            <a:ext cx="4227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Examens blancs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278624" y="3931920"/>
            <a:ext cx="4227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réelles : minuteur, plein écran, anti-triche.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675120" y="4626864"/>
            <a:ext cx="438912" cy="43891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626" y="4745370"/>
            <a:ext cx="201900" cy="201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78624" y="4590288"/>
            <a:ext cx="4227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&amp; validation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278624" y="4864608"/>
            <a:ext cx="4227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commentaires et validation par le formateur.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9/20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STAGIAIRE · SUIVI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Progression, résultats et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détaillée par module et par bloc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et résultats consultables à tout moment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rangs (Débutant à Master) et points d'expérience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de connexion qui récompense la régularité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Remédiation : après un échec, les leçons à revoir sont proposées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4983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gamification soutient l'effort, sans transformer la formation en jeu : l'objectif reste la réussite à l'examen.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0" y="1691640"/>
            <a:ext cx="5394960" cy="373046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52400" dist="50800" dir="8100000">
              <a:srgbClr val="0E12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0" y="1691640"/>
            <a:ext cx="5394960" cy="274320"/>
          </a:xfrm>
          <a:prstGeom prst="rect">
            <a:avLst/>
          </a:prstGeom>
          <a:solidFill>
            <a:srgbClr val="0E1240"/>
          </a:solidFill>
          <a:ln/>
        </p:spPr>
      </p:sp>
      <p:sp>
        <p:nvSpPr>
          <p:cNvPr id="8" name="Shape 6"/>
          <p:cNvSpPr/>
          <p:nvPr/>
        </p:nvSpPr>
        <p:spPr>
          <a:xfrm>
            <a:off x="6254496" y="1783080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783080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6547104" y="1783080"/>
            <a:ext cx="91440" cy="91440"/>
          </a:xfrm>
          <a:prstGeom prst="ellipse">
            <a:avLst/>
          </a:prstGeom>
          <a:solidFill>
            <a:srgbClr val="9FE220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1737360"/>
            <a:ext cx="4480560" cy="182880"/>
          </a:xfrm>
          <a:prstGeom prst="roundRect">
            <a:avLst>
              <a:gd name="adj" fmla="val 40000"/>
            </a:avLst>
          </a:prstGeom>
          <a:solidFill>
            <a:srgbClr val="161B3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7282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Réussites &amp; badges</a:t>
            </a:r>
            <a:endParaRPr lang="en-US" sz="750" dirty="0"/>
          </a:p>
        </p:txBody>
      </p:sp>
      <p:pic>
        <p:nvPicPr>
          <p:cNvPr id="13" name="Image 0" descr="livraison/screenshots/reuss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965960"/>
            <a:ext cx="5394960" cy="345614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10/20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STAGIAIRE · ADMINISTRATIF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démarches du stagiaire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728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299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350" y="215835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1168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 documents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05256" y="2578608"/>
            <a:ext cx="483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stagiaire téléverse ses justificatifs (PDF, images) directement depuis son espace.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33008" y="1828800"/>
            <a:ext cx="52728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34176" y="20299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557" y="215835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5968" y="201168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&amp; attestations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52464" y="2578608"/>
            <a:ext cx="483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contractuels accessibles ; attestations et certificats téléchargeables.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85800" y="3886200"/>
            <a:ext cx="52728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6968" y="40873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50" y="421575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6908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e-mail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05256" y="4636008"/>
            <a:ext cx="483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 et rappels automatiques à chaque étape importante.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233008" y="3886200"/>
            <a:ext cx="527288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34176" y="40873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557" y="4215750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5968" y="406908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administratif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52464" y="4636008"/>
            <a:ext cx="483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du dossier, signatures et émargements consultables et tracés.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11/20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ENCADREMENT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du formateur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formateur encadre les stagiaires de ses formations et garantit la qualité pédagogique.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342381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30428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350" y="243267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8600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stagiaires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05256" y="2852928"/>
            <a:ext cx="2984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individuelle et par groupe.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83938" y="2103120"/>
            <a:ext cx="342381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5106" y="230428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88" y="2432670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06898" y="228600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des QR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03394" y="2852928"/>
            <a:ext cx="2984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barème et commentaires personnalisés.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82077" y="2103120"/>
            <a:ext cx="342381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83245" y="230428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627" y="2432670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05037" y="228600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examens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01533" y="2852928"/>
            <a:ext cx="2984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finale sur les copies (l'IA assiste, n'arbitre pas).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85800" y="4069080"/>
            <a:ext cx="342381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86968" y="427024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50" y="4398630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25196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pédagogiques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05256" y="4818888"/>
            <a:ext cx="2984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réussite, points de difficulté.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383938" y="4069080"/>
            <a:ext cx="342381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85106" y="427024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488" y="4398630"/>
            <a:ext cx="218724" cy="2187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06898" y="425196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en direct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603394" y="4818888"/>
            <a:ext cx="2984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 et visioconférence (Zoom, Teams, Meet).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82077" y="4069080"/>
            <a:ext cx="342381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83245" y="427024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627" y="4398630"/>
            <a:ext cx="218724" cy="2187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05037" y="425196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Émargements &amp; gestion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01533" y="4818888"/>
            <a:ext cx="2984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Contre-signature des présences, gestion du contenu.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12/20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ADMINISTRATION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de l'administration de l'école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992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4546" y="2103120"/>
            <a:ext cx="621792" cy="62179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430" y="2271004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2852928"/>
            <a:ext cx="2279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&amp; classes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59404" y="1828800"/>
            <a:ext cx="24992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98150" y="2103120"/>
            <a:ext cx="621792" cy="62179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034" y="2271004"/>
            <a:ext cx="286024" cy="286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9132" y="2852928"/>
            <a:ext cx="2279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&amp; modules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3008" y="1828800"/>
            <a:ext cx="24992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71754" y="2103120"/>
            <a:ext cx="621792" cy="62179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637" y="2271004"/>
            <a:ext cx="286024" cy="286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42736" y="2852928"/>
            <a:ext cx="2279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 &amp; financeurs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006611" y="1828800"/>
            <a:ext cx="24992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945357" y="2103120"/>
            <a:ext cx="621792" cy="62179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41" y="2271004"/>
            <a:ext cx="286024" cy="286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6339" y="2852928"/>
            <a:ext cx="2279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85800" y="3749040"/>
            <a:ext cx="24992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624546" y="4023360"/>
            <a:ext cx="621792" cy="62179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2430" y="4191244"/>
            <a:ext cx="286024" cy="286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5528" y="4773168"/>
            <a:ext cx="2279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conventions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3459404" y="3749040"/>
            <a:ext cx="24992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398150" y="4023360"/>
            <a:ext cx="621792" cy="62179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6034" y="4191244"/>
            <a:ext cx="286024" cy="2860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69132" y="4773168"/>
            <a:ext cx="2279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exports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233008" y="3749040"/>
            <a:ext cx="24992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171754" y="4023360"/>
            <a:ext cx="621792" cy="62179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9637" y="4191244"/>
            <a:ext cx="286024" cy="2860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42736" y="4773168"/>
            <a:ext cx="2279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&amp; affectations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9006611" y="3749040"/>
            <a:ext cx="24992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945357" y="4023360"/>
            <a:ext cx="621792" cy="62179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3241" y="4191244"/>
            <a:ext cx="286024" cy="28602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16339" y="4773168"/>
            <a:ext cx="2279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&amp; qualité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38" name="Text 28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13/20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E2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66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
</a:t>
            </a:r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21945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6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6" name="Text 3"/>
          <p:cNvSpPr/>
          <p:nvPr/>
        </p:nvSpPr>
        <p:spPr>
          <a:xfrm>
            <a:off x="68580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4160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&amp; exigences Qualiopi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580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L'organisme est certifié Qualiopi. La plateforme industrialise la production des preuves attendues lors d'un audit.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14/20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CONFORMITÉ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preuves attendues d'un organisme certifié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013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" y="1746504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à l'entrée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positionnement conservé au dossier.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01368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7056" y="1746504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obligatoires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acceptés et signés, horodatés et scellés.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80360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8408" y="2825496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Émargement matin / après-midi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Présences signées par demi-journée, contre-signées par le formateur.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2880360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7056" y="2825496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présences &amp; assiduité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Émargement détaillé par séance, y compris à distance (FOAD).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59352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78408" y="3904488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pédagogique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Progression, résultats et corrections tracés.</a:t>
            </a:r>
            <a:endParaRPr lang="en-US" sz="10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8" y="3959352"/>
            <a:ext cx="182880" cy="1828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17056" y="3904488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&amp; réclamations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Enquêtes à chaud et à froid ; procédure de réclamation.</a:t>
            </a:r>
            <a:endParaRPr lang="en-US" sz="10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038344"/>
            <a:ext cx="182880" cy="1828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78408" y="4983480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&amp; indicateurs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qualité et taux de réussite consolidés.</a:t>
            </a:r>
            <a:endParaRPr lang="en-US" sz="10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8" y="5038344"/>
            <a:ext cx="182880" cy="18288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617056" y="4983480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&amp; exports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Conservation, journal d'audit et exports (BPF, CSV).</a:t>
            </a:r>
            <a:endParaRPr lang="en-US" sz="1000" dirty="0"/>
          </a:p>
        </p:txBody>
      </p:sp>
      <p:sp>
        <p:nvSpPr>
          <p:cNvPr id="20" name="Shape 10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22" name="Text 12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15/20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CONFORMITÉ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: prouver qui a fait quoi, et quand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035040" cy="4140517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52400" dist="50800" dir="8100000">
              <a:srgbClr val="0E12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6035040" cy="274320"/>
          </a:xfrm>
          <a:prstGeom prst="rect">
            <a:avLst/>
          </a:prstGeom>
          <a:solidFill>
            <a:srgbClr val="0E1240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1783080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783080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783080"/>
            <a:ext cx="91440" cy="91440"/>
          </a:xfrm>
          <a:prstGeom prst="ellipse">
            <a:avLst/>
          </a:prstGeom>
          <a:solidFill>
            <a:srgbClr val="9FE220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737360"/>
            <a:ext cx="5120640" cy="182880"/>
          </a:xfrm>
          <a:prstGeom prst="roundRect">
            <a:avLst>
              <a:gd name="adj" fmla="val 40000"/>
            </a:avLst>
          </a:prstGeom>
          <a:solidFill>
            <a:srgbClr val="161B3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7282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Émargement du stagiaire</a:t>
            </a:r>
            <a:endParaRPr lang="en-US" sz="750" dirty="0"/>
          </a:p>
        </p:txBody>
      </p:sp>
      <p:pic>
        <p:nvPicPr>
          <p:cNvPr id="11" name="Image 0" descr="livraison/screenshots/emar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6035040" cy="386619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040880" y="1828800"/>
            <a:ext cx="438912" cy="43891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386" y="1947306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44384" y="1792224"/>
            <a:ext cx="3861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scellée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644384" y="2066544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SHA-256 + IP + horodatage : preuve d'intégrité (indicateur 11).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040880" y="2788920"/>
            <a:ext cx="438912" cy="43891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386" y="2907426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44384" y="2752344"/>
            <a:ext cx="3861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644384" y="3026664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actions sensibles, conservé 5 ans.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040880" y="3749040"/>
            <a:ext cx="438912" cy="43891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386" y="3867546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4384" y="3712464"/>
            <a:ext cx="3861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BPF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644384" y="3986784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du Bilan Pédagogique et Financier, prête à exporter.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040880" y="4709160"/>
            <a:ext cx="438912" cy="438912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386" y="4827666"/>
            <a:ext cx="201900" cy="201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44384" y="4672584"/>
            <a:ext cx="3861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protégées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644384" y="4946904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UE, accès cloisonnés, conformité RGPD.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16/20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technique, expliquée simplement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2381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299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350" y="215835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1168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données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05256" y="2578608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utilisateur n'accède qu'à ses propres données : la séparation est appliquée au cœur de la base.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83938" y="1828800"/>
            <a:ext cx="342381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5106" y="20299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88" y="215835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6898" y="201168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en Europe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03394" y="2578608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hébergées dans l'Union européenne (Paris / Francfort).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82077" y="1828800"/>
            <a:ext cx="342381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3245" y="20299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627" y="215835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05037" y="201168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01533" y="2578608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régulières et fichiers stockés de façon privée.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85800" y="3886200"/>
            <a:ext cx="342381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86968" y="40873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50" y="4215750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6908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sécurisés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5256" y="4636008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protégée, quatre niveaux d'accès, parcours d'entrée guidé.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83938" y="3886200"/>
            <a:ext cx="342381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5106" y="40873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488" y="4215750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6898" y="406908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(RGPD)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603394" y="4636008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Consentements, export et suppression des données sur demande.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82077" y="3886200"/>
            <a:ext cx="342381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  <a:effectLst>
            <a:outerShdw sx="100000" sy="100000" kx="0" ky="0" algn="bl" rotWithShape="0" blurRad="114300" dist="38100" dir="8100000">
              <a:srgbClr val="0E124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83245" y="4087368"/>
            <a:ext cx="475488" cy="475488"/>
          </a:xfrm>
          <a:prstGeom prst="ellipse">
            <a:avLst/>
          </a:prstGeom>
          <a:solidFill>
            <a:srgbClr val="0E124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627" y="4215750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05037" y="406908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fiabilité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01533" y="4636008"/>
            <a:ext cx="2984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rapides, surveillance des erreurs et contrôles automatiques.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17/20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PILOTAGE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pilotage par la donnée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499284" cy="1371600"/>
          </a:xfrm>
          <a:prstGeom prst="rect">
            <a:avLst/>
          </a:prstGeom>
          <a:solidFill>
            <a:srgbClr val="0E1240"/>
          </a:solidFill>
          <a:ln/>
          <a:effectLst>
            <a:outerShdw sx="100000" sy="100000" kx="0" ky="0" algn="bl" rotWithShape="0" blurRad="114300" dist="38100" dir="8100000">
              <a:srgbClr val="0E124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39112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59404" y="1783080"/>
            <a:ext cx="2499284" cy="1371600"/>
          </a:xfrm>
          <a:prstGeom prst="rect">
            <a:avLst/>
          </a:prstGeom>
          <a:solidFill>
            <a:srgbClr val="0E1240"/>
          </a:solidFill>
          <a:ln/>
          <a:effectLst>
            <a:outerShdw sx="100000" sy="100000" kx="0" ky="0" algn="bl" rotWithShape="0" blurRad="114300" dist="38100" dir="8100000">
              <a:srgbClr val="0E124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42284" y="2039112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formation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42284" y="265176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Réussite &amp; activité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499284" cy="1371600"/>
          </a:xfrm>
          <a:prstGeom prst="rect">
            <a:avLst/>
          </a:prstGeom>
          <a:solidFill>
            <a:srgbClr val="0E1240"/>
          </a:solidFill>
          <a:ln/>
          <a:effectLst>
            <a:outerShdw sx="100000" sy="100000" kx="0" ky="0" algn="bl" rotWithShape="0" blurRad="114300" dist="38100" dir="8100000">
              <a:srgbClr val="0E124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5888" y="2039112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risque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15888" y="265176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Stagiaires en alerte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06611" y="1783080"/>
            <a:ext cx="2499284" cy="1371600"/>
          </a:xfrm>
          <a:prstGeom prst="rect">
            <a:avLst/>
          </a:prstGeom>
          <a:solidFill>
            <a:srgbClr val="0E1240"/>
          </a:solidFill>
          <a:ln/>
          <a:effectLst>
            <a:outerShdw sx="100000" sy="100000" kx="0" ky="0" algn="bl" rotWithShape="0" blurRad="114300" dist="38100" dir="8100000">
              <a:srgbClr val="0E124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491" y="2039112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/ CSV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89491" y="265176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prêts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l'administration peut suivre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931920"/>
            <a:ext cx="518144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globale et par groupe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réussite par module et par formation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stagiaires en difficulté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24448" y="3931920"/>
            <a:ext cx="518144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l'activité et de l'assiduité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qualité et satisfaction</a:t>
            </a:r>
            <a:endParaRPr lang="en-US" sz="11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comptables et reporting BPF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6437376"/>
            <a:ext cx="10820095" cy="0"/>
          </a:xfrm>
          <a:prstGeom prst="line">
            <a:avLst/>
          </a:prstGeom>
          <a:noFill/>
          <a:ln w="9525">
            <a:solidFill>
              <a:srgbClr val="E4DF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 ·  Capacité de transport ≤ 3,5 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3389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destiné à l'administration · 18/20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9FE22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663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
</a:t>
            </a:r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E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école moderne, conforme et sérieuse.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85800" y="3429000"/>
            <a:ext cx="402336" cy="402336"/>
          </a:xfrm>
          <a:prstGeom prst="ellipse">
            <a:avLst/>
          </a:prstGeom>
          <a:solidFill>
            <a:srgbClr val="161B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31" y="3537631"/>
            <a:ext cx="185075" cy="185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339242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parcours pédagogique clair, de l'inscription à la certification.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85800" y="3995928"/>
            <a:ext cx="402336" cy="402336"/>
          </a:xfrm>
          <a:prstGeom prst="ellipse">
            <a:avLst/>
          </a:prstGeom>
          <a:solidFill>
            <a:srgbClr val="161B3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1" y="4104559"/>
            <a:ext cx="185075" cy="185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2728" y="39593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pédagogique et administratif complet et tracé.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85800" y="4562856"/>
            <a:ext cx="402336" cy="402336"/>
          </a:xfrm>
          <a:prstGeom prst="ellipse">
            <a:avLst/>
          </a:prstGeom>
          <a:solidFill>
            <a:srgbClr val="161B3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31" y="4671487"/>
            <a:ext cx="185075" cy="1850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52728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conformité pensée pour les exigences françaises et Qualiopi.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85800" y="5129784"/>
            <a:ext cx="402336" cy="402336"/>
          </a:xfrm>
          <a:prstGeom prst="ellipse">
            <a:avLst/>
          </a:prstGeom>
          <a:solidFill>
            <a:srgbClr val="161B3D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31" y="5238415"/>
            <a:ext cx="185075" cy="1850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52728" y="50932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sécurisées, hébergées en Europe.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9525">
            <a:solidFill>
              <a:srgbClr val="242C55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85800" y="605332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FORMATION TRANSPORT (SAS)  ·  SIRET 908 851 280 00028  ·  NDA 11 77 09 47177  ·  Qualiopi CW202525-4287
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av. des Sablons Bouillants, 77100 Meaux  ·  contact@maformationtransport.fr  ·  01 60 09 54 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Capacité ≤ 3,5 t — Dossier de présentation (administration)</dc:title>
  <dc:subject>PptxGenJS Presentation</dc:subject>
  <dc:creator>MA FORMATION TRANSPORT</dc:creator>
  <cp:lastModifiedBy>MA FORMATION TRANSPORT</cp:lastModifiedBy>
  <cp:revision>1</cp:revision>
  <dcterms:created xsi:type="dcterms:W3CDTF">2026-05-26T21:41:08Z</dcterms:created>
  <dcterms:modified xsi:type="dcterms:W3CDTF">2026-05-26T21:41:08Z</dcterms:modified>
</cp:coreProperties>
</file>